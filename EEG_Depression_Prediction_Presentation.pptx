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notesMasterIdLst>
    <p:notesMasterId r:id="rId21"/>
  </p:notesMasterIdLst>
  <p:sldIdLst>
    <p:sldId id="265" r:id="rId2"/>
    <p:sldId id="256" r:id="rId3"/>
    <p:sldId id="257" r:id="rId4"/>
    <p:sldId id="258" r:id="rId5"/>
    <p:sldId id="259" r:id="rId6"/>
    <p:sldId id="260" r:id="rId7"/>
    <p:sldId id="269" r:id="rId8"/>
    <p:sldId id="270" r:id="rId9"/>
    <p:sldId id="271" r:id="rId10"/>
    <p:sldId id="273" r:id="rId11"/>
    <p:sldId id="261" r:id="rId12"/>
    <p:sldId id="272" r:id="rId13"/>
    <p:sldId id="274" r:id="rId14"/>
    <p:sldId id="268" r:id="rId15"/>
    <p:sldId id="262" r:id="rId16"/>
    <p:sldId id="263" r:id="rId17"/>
    <p:sldId id="264" r:id="rId18"/>
    <p:sldId id="266" r:id="rId19"/>
    <p:sldId id="267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94660"/>
  </p:normalViewPr>
  <p:slideViewPr>
    <p:cSldViewPr snapToGrid="0" snapToObjects="1">
      <p:cViewPr>
        <p:scale>
          <a:sx n="125" d="100"/>
          <a:sy n="125" d="100"/>
        </p:scale>
        <p:origin x="1056" y="-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A83FF7-40DC-4AB4-A3B6-D9112F386BB0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DE7F42-9D53-4129-BEB0-0F1910AEF0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08200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DE7F42-9D53-4129-BEB0-0F1910AEF01C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41889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2603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8167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2376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1975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5451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6732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7325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1907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5399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3737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644852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2458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167786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7641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8943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8148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6810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ieeexplore.ieee.org/document/10943163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ieeexplore.ieee.org/document/10910016" TargetMode="External"/><Relationship Id="rId5" Type="http://schemas.openxmlformats.org/officeDocument/2006/relationships/hyperlink" Target="https://link.springer.com/article/10.1007/s11760-025-04067-x#citeas" TargetMode="External"/><Relationship Id="rId4" Type="http://schemas.openxmlformats.org/officeDocument/2006/relationships/hyperlink" Target="https://www.sciencedirect.com/science/article/pii/S1746809424010541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CC32CAD-BC64-50A4-AAFF-C37D17670D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2467" y="4921491"/>
            <a:ext cx="5181600" cy="1936510"/>
          </a:xfrm>
        </p:spPr>
        <p:txBody>
          <a:bodyPr>
            <a:normAutofit/>
          </a:bodyPr>
          <a:lstStyle/>
          <a:p>
            <a:r>
              <a:rPr lang="en-IN" sz="1600" dirty="0"/>
              <a:t>Project Instructor –  Dr. Kailash W. Kalare, </a:t>
            </a:r>
            <a:br>
              <a:rPr lang="en-IN" sz="1600" dirty="0"/>
            </a:br>
            <a:r>
              <a:rPr lang="en-IN" sz="1600" dirty="0"/>
              <a:t>				 MNNIT Allahabad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838BA2-5E64-2214-AD5E-36C84630EF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60600" y="3446110"/>
            <a:ext cx="5875867" cy="155586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4000" dirty="0"/>
              <a:t>EEG Based Depression Severity Prediction Using Deep Learning</a:t>
            </a:r>
            <a:endParaRPr lang="en-IN" sz="4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CAF57A-3CDF-AF42-A8A2-2CF26DF6248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62" r="2862"/>
          <a:stretch/>
        </p:blipFill>
        <p:spPr>
          <a:xfrm>
            <a:off x="3122600" y="193462"/>
            <a:ext cx="2898799" cy="2793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93288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75933" y="1447800"/>
            <a:ext cx="5875867" cy="2379134"/>
          </a:xfrm>
        </p:spPr>
        <p:txBody>
          <a:bodyPr>
            <a:normAutofit/>
          </a:bodyPr>
          <a:lstStyle/>
          <a:p>
            <a:br>
              <a:rPr lang="en-IN" sz="1800" dirty="0"/>
            </a:br>
            <a:r>
              <a:rPr lang="en-IN" sz="2000" dirty="0"/>
              <a:t>Team Members </a:t>
            </a:r>
            <a:r>
              <a:rPr lang="en-IN" sz="1800" dirty="0"/>
              <a:t>:</a:t>
            </a:r>
            <a:br>
              <a:rPr lang="en-IN" sz="1800" dirty="0"/>
            </a:br>
            <a:br>
              <a:rPr lang="en-IN" sz="1800" dirty="0"/>
            </a:br>
            <a:r>
              <a:rPr lang="en-IN" sz="1800" dirty="0"/>
              <a:t>Nitish Sonkar (20221060)</a:t>
            </a:r>
            <a:br>
              <a:rPr lang="en-IN" sz="1800" dirty="0"/>
            </a:br>
            <a:r>
              <a:rPr lang="en-IN" sz="1800" dirty="0"/>
              <a:t>Antariksh Kashyap Mech (20224026)</a:t>
            </a:r>
            <a:br>
              <a:rPr lang="en-IN" sz="1800" dirty="0"/>
            </a:br>
            <a:r>
              <a:rPr lang="en-IN" sz="1800" dirty="0"/>
              <a:t>Shreyansh Karamtot (20223255)</a:t>
            </a:r>
            <a:br>
              <a:rPr lang="en-IN" sz="1800" dirty="0"/>
            </a:br>
            <a:r>
              <a:rPr lang="en-IN" sz="1800" dirty="0"/>
              <a:t>Kiran Kumar Sharma (20214116)</a:t>
            </a:r>
            <a:br>
              <a:rPr lang="en-IN" sz="1800" dirty="0"/>
            </a:br>
            <a:endParaRPr sz="1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75933" y="3462867"/>
            <a:ext cx="6400800" cy="2294468"/>
          </a:xfrm>
        </p:spPr>
        <p:txBody>
          <a:bodyPr>
            <a:normAutofit/>
          </a:bodyPr>
          <a:lstStyle/>
          <a:p>
            <a:endParaRPr dirty="0"/>
          </a:p>
          <a:p>
            <a:r>
              <a:rPr dirty="0"/>
              <a:t>Motilal Nehru National Institute of Technology, Allahabad</a:t>
            </a:r>
          </a:p>
          <a:p>
            <a:r>
              <a:rPr dirty="0"/>
              <a:t>Department of Computer Science &amp; Engineering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Outline /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dirty="0"/>
              <a:t>1. Problem Statement &amp; Motivation</a:t>
            </a:r>
          </a:p>
          <a:p>
            <a:r>
              <a:rPr sz="2000" dirty="0"/>
              <a:t>2. Project Objectives</a:t>
            </a:r>
          </a:p>
          <a:p>
            <a:r>
              <a:rPr sz="2000" dirty="0"/>
              <a:t>3. Methodology</a:t>
            </a:r>
          </a:p>
          <a:p>
            <a:r>
              <a:rPr sz="2000" dirty="0"/>
              <a:t>4. Model Formulation</a:t>
            </a:r>
          </a:p>
          <a:p>
            <a:r>
              <a:rPr sz="2000" dirty="0"/>
              <a:t>5. Solution &amp; Key Results</a:t>
            </a:r>
          </a:p>
          <a:p>
            <a:r>
              <a:rPr sz="2000" dirty="0"/>
              <a:t>6. Sensitivity Analysis / What-If Scenarios</a:t>
            </a:r>
          </a:p>
          <a:p>
            <a:r>
              <a:rPr sz="2000" dirty="0"/>
              <a:t>7. Conclusion &amp; Future 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Problem Statement &amp; 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4100290"/>
          </a:xfrm>
        </p:spPr>
        <p:txBody>
          <a:bodyPr>
            <a:normAutofit/>
          </a:bodyPr>
          <a:lstStyle/>
          <a:p>
            <a:r>
              <a:rPr lang="en-US" sz="2000" dirty="0"/>
              <a:t>Depression is a common mental disorder characterized by symptoms such as a depressed mood, loss of interest, low self-esteem, and anxiety</a:t>
            </a:r>
            <a:r>
              <a:rPr sz="2000" dirty="0"/>
              <a:t>. Traditional diagnosis relies on subjective questionnaires prone to bias.</a:t>
            </a:r>
            <a:endParaRPr lang="en-IN" sz="2000" dirty="0"/>
          </a:p>
          <a:p>
            <a:endParaRPr sz="2000" dirty="0"/>
          </a:p>
          <a:p>
            <a:r>
              <a:rPr sz="2000" dirty="0"/>
              <a:t>This project aims to perform multiclass depression</a:t>
            </a:r>
            <a:r>
              <a:rPr lang="en-IN" sz="2000" dirty="0"/>
              <a:t> </a:t>
            </a:r>
            <a:r>
              <a:rPr sz="2000" dirty="0"/>
              <a:t> classification using EEG signals with deep learning models to develop an objective, data-driven diagnostic tool.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7800" y="1600200"/>
            <a:ext cx="7238999" cy="4699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2400" dirty="0"/>
              <a:t>• Implement four advanced deep-learning architectures for EEG-based depression recognition</a:t>
            </a:r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r>
              <a:rPr sz="2400" dirty="0"/>
              <a:t>• Provide a comparative analysis of methods</a:t>
            </a:r>
            <a:r>
              <a:rPr lang="en-IN" sz="2400" dirty="0"/>
              <a:t> and </a:t>
            </a:r>
            <a:r>
              <a:rPr lang="en-US" sz="2400" dirty="0"/>
              <a:t>Evaluate performance across standardized metrics</a:t>
            </a:r>
            <a:endParaRPr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dirty="0"/>
              <a:t>1. </a:t>
            </a:r>
            <a:r>
              <a:rPr sz="2000" b="1" dirty="0"/>
              <a:t>Dataset</a:t>
            </a:r>
            <a:r>
              <a:rPr lang="en-IN" sz="2000" b="1" dirty="0"/>
              <a:t> </a:t>
            </a:r>
            <a:r>
              <a:rPr sz="2000" dirty="0"/>
              <a:t>: </a:t>
            </a:r>
            <a:r>
              <a:rPr sz="2000" b="1" dirty="0"/>
              <a:t>MODMA</a:t>
            </a:r>
            <a:r>
              <a:rPr sz="2000" dirty="0"/>
              <a:t> </a:t>
            </a:r>
            <a:r>
              <a:rPr lang="en-IN" sz="2000" dirty="0"/>
              <a:t>(Multimodal Open Dataset for Mental-health Analysis) </a:t>
            </a:r>
            <a:r>
              <a:rPr sz="2000" dirty="0"/>
              <a:t>EEG Dataset (53 subjects)</a:t>
            </a:r>
            <a:endParaRPr lang="en-IN" sz="2000" dirty="0"/>
          </a:p>
          <a:p>
            <a:endParaRPr lang="en-IN" sz="2000" dirty="0"/>
          </a:p>
          <a:p>
            <a:endParaRPr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E6D11E-2301-691A-EBD2-CD6F22178F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2820300" y="2907569"/>
            <a:ext cx="1572745" cy="21846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1577832-3339-23BF-5575-91B8F02389C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582"/>
          <a:stretch>
            <a:fillRect/>
          </a:stretch>
        </p:blipFill>
        <p:spPr>
          <a:xfrm>
            <a:off x="5046137" y="3213527"/>
            <a:ext cx="2735377" cy="339633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D01D6CA-FD55-8331-E336-8E6E7F0F11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4341" y="4988255"/>
            <a:ext cx="2184663" cy="162160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5AE71-CEE1-3497-E025-C83180238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3CE647-240C-04C2-F8B5-23D587E18B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42415" y="1608666"/>
            <a:ext cx="6591985" cy="471593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2. </a:t>
            </a:r>
            <a:r>
              <a:rPr lang="en-IN" b="1" dirty="0"/>
              <a:t>Preprocessing</a:t>
            </a:r>
            <a:r>
              <a:rPr lang="en-IN" dirty="0"/>
              <a:t>: </a:t>
            </a:r>
          </a:p>
          <a:p>
            <a:endParaRPr lang="en-IN" dirty="0"/>
          </a:p>
          <a:p>
            <a:r>
              <a:rPr lang="en-IN" b="1" dirty="0"/>
              <a:t>Sampling frequency:</a:t>
            </a:r>
            <a:r>
              <a:rPr lang="en-IN" dirty="0"/>
              <a:t> 500 Hz</a:t>
            </a:r>
          </a:p>
          <a:p>
            <a:r>
              <a:rPr lang="en-IN" b="1" dirty="0"/>
              <a:t>Electrode impedance:</a:t>
            </a:r>
            <a:r>
              <a:rPr lang="en-IN" dirty="0"/>
              <a:t> &lt; 50 k</a:t>
            </a:r>
            <a:r>
              <a:rPr lang="el-GR" dirty="0"/>
              <a:t>Ω</a:t>
            </a:r>
          </a:p>
          <a:p>
            <a:r>
              <a:rPr lang="en-IN" b="1" dirty="0"/>
              <a:t>Software used:</a:t>
            </a:r>
            <a:r>
              <a:rPr lang="en-IN" dirty="0"/>
              <a:t> MATLAB 2017b with </a:t>
            </a:r>
            <a:r>
              <a:rPr lang="en-IN" b="1" dirty="0"/>
              <a:t>EEGLAB toolbox</a:t>
            </a:r>
            <a:endParaRPr lang="en-IN" dirty="0"/>
          </a:p>
          <a:p>
            <a:r>
              <a:rPr lang="en-IN" b="1" dirty="0"/>
              <a:t>Bandpass</a:t>
            </a:r>
            <a:r>
              <a:rPr lang="en-IN" dirty="0"/>
              <a:t> </a:t>
            </a:r>
            <a:r>
              <a:rPr lang="en-IN" b="1" dirty="0"/>
              <a:t>Filtering: </a:t>
            </a:r>
            <a:r>
              <a:rPr lang="en-IN" dirty="0"/>
              <a:t>1–40 Hz)</a:t>
            </a:r>
          </a:p>
          <a:p>
            <a:r>
              <a:rPr lang="en-IN" b="1" dirty="0" err="1"/>
              <a:t>Downsampling</a:t>
            </a:r>
            <a:r>
              <a:rPr lang="en-IN" b="1" dirty="0"/>
              <a:t>:</a:t>
            </a:r>
            <a:r>
              <a:rPr lang="en-IN" dirty="0"/>
              <a:t> to 250 Hz</a:t>
            </a:r>
          </a:p>
          <a:p>
            <a:r>
              <a:rPr lang="en-IN" b="1" dirty="0"/>
              <a:t>Segmentation:</a:t>
            </a:r>
            <a:r>
              <a:rPr lang="en-IN" dirty="0"/>
              <a:t> 20 segments × 4-10 seconds each (aligned with stimuli)</a:t>
            </a:r>
          </a:p>
          <a:p>
            <a:r>
              <a:rPr lang="en-IN" b="1" dirty="0"/>
              <a:t>Artifact removal:</a:t>
            </a:r>
            <a:r>
              <a:rPr lang="en-IN" dirty="0"/>
              <a:t> Independent Component Analysis (ICA) for eye / head movement / power noise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888161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1CB07-7375-BCE7-07E9-70944A23F2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1934" y="217710"/>
            <a:ext cx="6589199" cy="1280890"/>
          </a:xfrm>
        </p:spPr>
        <p:txBody>
          <a:bodyPr/>
          <a:lstStyle/>
          <a:p>
            <a:r>
              <a:rPr lang="en-IN" dirty="0"/>
              <a:t>Cont.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277239-BCAF-C909-715E-28DF627DCC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8533" y="1041399"/>
            <a:ext cx="7670800" cy="5816601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dirty="0"/>
              <a:t>3. </a:t>
            </a:r>
            <a:r>
              <a:rPr lang="en-IN" b="1" dirty="0"/>
              <a:t>Training</a:t>
            </a:r>
            <a:r>
              <a:rPr lang="en-IN" dirty="0"/>
              <a:t>: Adam optimizer, stratified K-fold cross-validation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b="1" dirty="0"/>
              <a:t>1. UA-DAAN (Uncertainty-Aware Dynamic Adversarial Adaptation Network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	Trained using </a:t>
            </a:r>
            <a:r>
              <a:rPr lang="en-IN" b="1" dirty="0"/>
              <a:t>domain-adversarial loss</a:t>
            </a:r>
            <a:r>
              <a:rPr lang="en-IN" dirty="0"/>
              <a:t> with </a:t>
            </a:r>
            <a:r>
              <a:rPr lang="en-IN" b="1" dirty="0"/>
              <a:t>uncertainty weighting</a:t>
            </a:r>
            <a:r>
              <a:rPr lang="en-IN" dirty="0"/>
              <a:t> to align source and 	target EEG domains.</a:t>
            </a:r>
          </a:p>
          <a:p>
            <a:pPr marL="0" indent="0">
              <a:buNone/>
            </a:pPr>
            <a:r>
              <a:rPr lang="en-IN" dirty="0"/>
              <a:t>         Optimized via </a:t>
            </a:r>
            <a:r>
              <a:rPr lang="en-IN" b="1" dirty="0"/>
              <a:t>Adam</a:t>
            </a:r>
            <a:r>
              <a:rPr lang="en-IN" dirty="0"/>
              <a:t> optimizer and </a:t>
            </a:r>
            <a:r>
              <a:rPr lang="en-IN" b="1" dirty="0"/>
              <a:t>5-fold cross-validation</a:t>
            </a:r>
            <a:r>
              <a:rPr lang="en-IN" dirty="0"/>
              <a:t> on MODMA EEG dataset.</a:t>
            </a:r>
            <a:br>
              <a:rPr lang="en-IN" dirty="0"/>
            </a:br>
            <a:endParaRPr lang="en-IN" dirty="0"/>
          </a:p>
          <a:p>
            <a:r>
              <a:rPr lang="en-IN" b="1" dirty="0"/>
              <a:t>2. </a:t>
            </a:r>
            <a:r>
              <a:rPr lang="en-IN" b="1" dirty="0" err="1"/>
              <a:t>MTNet</a:t>
            </a:r>
            <a:r>
              <a:rPr lang="en-IN" b="1" dirty="0"/>
              <a:t> (Transformer-based EEG Model)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	Trained end-to-end with </a:t>
            </a:r>
            <a:r>
              <a:rPr lang="en-IN" b="1" dirty="0"/>
              <a:t>Adam optimizer</a:t>
            </a:r>
            <a:r>
              <a:rPr lang="en-IN" dirty="0"/>
              <a:t> using </a:t>
            </a:r>
            <a:r>
              <a:rPr lang="en-IN" b="1" dirty="0"/>
              <a:t>cross-entropy loss</a:t>
            </a:r>
            <a:r>
              <a:rPr lang="en-IN" dirty="0"/>
              <a:t>, capturing long-	range dependencies via multi-head attention.</a:t>
            </a:r>
          </a:p>
          <a:p>
            <a:pPr marL="0" indent="0">
              <a:buNone/>
            </a:pPr>
            <a:r>
              <a:rPr lang="en-IN" dirty="0"/>
              <a:t>	Used </a:t>
            </a:r>
            <a:r>
              <a:rPr lang="en-IN" b="1" dirty="0"/>
              <a:t>stratified K-fold validation</a:t>
            </a:r>
            <a:r>
              <a:rPr lang="en-IN" dirty="0"/>
              <a:t> for balanced evaluation across depression  classes.</a:t>
            </a:r>
            <a:br>
              <a:rPr lang="en-IN" dirty="0"/>
            </a:br>
            <a:endParaRPr lang="en-IN" dirty="0"/>
          </a:p>
          <a:p>
            <a:r>
              <a:rPr lang="en-IN" b="1" dirty="0"/>
              <a:t>3. MSDSTT (Multi-Scale Deep Spatio-Temporal Transformer)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	Trained using </a:t>
            </a:r>
            <a:r>
              <a:rPr lang="en-IN" b="1" dirty="0"/>
              <a:t>Adam (</a:t>
            </a:r>
            <a:r>
              <a:rPr lang="en-IN" b="1" dirty="0" err="1"/>
              <a:t>lr</a:t>
            </a:r>
            <a:r>
              <a:rPr lang="en-IN" b="1" dirty="0"/>
              <a:t> = 0.0005)</a:t>
            </a:r>
            <a:r>
              <a:rPr lang="en-IN" dirty="0"/>
              <a:t> with </a:t>
            </a:r>
            <a:r>
              <a:rPr lang="en-IN" b="1" dirty="0"/>
              <a:t>cross-entropy loss</a:t>
            </a:r>
            <a:r>
              <a:rPr lang="en-IN" dirty="0"/>
              <a:t> for 800 epochs and </a:t>
            </a:r>
            <a:r>
              <a:rPr lang="en-IN" b="1" dirty="0"/>
              <a:t>5-fold 	cross-validation</a:t>
            </a:r>
            <a:r>
              <a:rPr lang="en-IN" dirty="0"/>
              <a:t> to prevent overfitting.</a:t>
            </a:r>
          </a:p>
          <a:p>
            <a:pPr marL="0" indent="0">
              <a:buNone/>
            </a:pPr>
            <a:r>
              <a:rPr lang="en-IN" dirty="0"/>
              <a:t>	Implemented </a:t>
            </a:r>
            <a:r>
              <a:rPr lang="en-IN" b="1" dirty="0"/>
              <a:t>early stopping</a:t>
            </a:r>
            <a:r>
              <a:rPr lang="en-IN" dirty="0"/>
              <a:t> and </a:t>
            </a:r>
            <a:r>
              <a:rPr lang="en-IN" b="1" dirty="0"/>
              <a:t>batch normalization</a:t>
            </a:r>
            <a:r>
              <a:rPr lang="en-IN" dirty="0"/>
              <a:t> to stabilize training and 	enhance generalization.</a:t>
            </a:r>
            <a:br>
              <a:rPr lang="en-IN" dirty="0"/>
            </a:br>
            <a:endParaRPr lang="en-IN" dirty="0"/>
          </a:p>
          <a:p>
            <a:r>
              <a:rPr lang="en-IN" b="1" dirty="0"/>
              <a:t>4. 1DCNN–BiLSTM–Cross Attention (Stress Severity Detection)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	Trained with </a:t>
            </a:r>
            <a:r>
              <a:rPr lang="en-IN" b="1" dirty="0"/>
              <a:t>MSE loss</a:t>
            </a:r>
            <a:r>
              <a:rPr lang="en-IN" dirty="0"/>
              <a:t> and </a:t>
            </a:r>
            <a:r>
              <a:rPr lang="en-IN" b="1" dirty="0"/>
              <a:t>5-fold cross-validation</a:t>
            </a:r>
            <a:r>
              <a:rPr lang="en-IN" dirty="0"/>
              <a:t> using </a:t>
            </a:r>
            <a:r>
              <a:rPr lang="en-IN" b="1" dirty="0" err="1"/>
              <a:t>XGBoost</a:t>
            </a:r>
            <a:r>
              <a:rPr lang="en-IN" b="1" dirty="0"/>
              <a:t> regression</a:t>
            </a:r>
            <a:r>
              <a:rPr lang="en-IN" dirty="0"/>
              <a:t> for final stress 	score prediction.</a:t>
            </a:r>
          </a:p>
          <a:p>
            <a:pPr marL="0" indent="0">
              <a:buNone/>
            </a:pPr>
            <a:r>
              <a:rPr lang="en-IN" dirty="0"/>
              <a:t>	Implemented in </a:t>
            </a:r>
            <a:r>
              <a:rPr lang="en-IN" b="1" dirty="0" err="1"/>
              <a:t>Keras</a:t>
            </a:r>
            <a:r>
              <a:rPr lang="en-IN" b="1" dirty="0"/>
              <a:t>/Python</a:t>
            </a:r>
            <a:r>
              <a:rPr lang="en-IN" dirty="0"/>
              <a:t>, optimized with </a:t>
            </a:r>
            <a:r>
              <a:rPr lang="en-IN" b="1" dirty="0"/>
              <a:t>GPU acceleration (GTX 3060)</a:t>
            </a:r>
            <a:r>
              <a:rPr lang="en-IN" dirty="0"/>
              <a:t> for faster 	convergence and robustness.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484757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EF6DE-CACE-79F6-FDCE-33BF85F28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BA9C086-A558-5A07-9C59-D37EC9991D6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52551" y="1485900"/>
                <a:ext cx="7629524" cy="520065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IN" dirty="0"/>
                  <a:t>4. </a:t>
                </a:r>
                <a:r>
                  <a:rPr lang="en-IN" b="1" dirty="0"/>
                  <a:t>Evaluation Metrics</a:t>
                </a:r>
                <a:r>
                  <a:rPr lang="en-IN" dirty="0"/>
                  <a:t>: Accuracy, Precision, Recall, F1 Score</a:t>
                </a:r>
              </a:p>
              <a:p>
                <a:r>
                  <a:rPr lang="en-IN" b="1" dirty="0"/>
                  <a:t>Precision</a:t>
                </a:r>
                <a:r>
                  <a:rPr lang="en-IN" dirty="0"/>
                  <a:t> Measures how many predicted positives are actually correct.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IN"/>
                        <m:t>Precision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𝑇𝑃</m:t>
                          </m:r>
                        </m:num>
                        <m:den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𝑇𝑃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𝐹𝑃</m:t>
                          </m:r>
                        </m:den>
                      </m:f>
                    </m:oMath>
                  </m:oMathPara>
                </a14:m>
                <a:endParaRPr lang="ar-AE" dirty="0"/>
              </a:p>
              <a:p>
                <a:r>
                  <a:rPr lang="en-IN" b="1" dirty="0"/>
                  <a:t>Recall (Sensitivity)</a:t>
                </a:r>
                <a:r>
                  <a:rPr lang="en-IN" dirty="0"/>
                  <a:t> Measures how many actual positives were correctly identified.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IN"/>
                        <m:t>Recall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𝑇𝑃</m:t>
                          </m:r>
                        </m:num>
                        <m:den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𝑇𝑃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𝐹𝑁</m:t>
                          </m:r>
                        </m:den>
                      </m:f>
                    </m:oMath>
                  </m:oMathPara>
                </a14:m>
                <a:endParaRPr lang="en-IN" dirty="0"/>
              </a:p>
              <a:p>
                <a:r>
                  <a:rPr lang="en-IN" b="1" dirty="0"/>
                  <a:t>Accuracy</a:t>
                </a:r>
                <a:r>
                  <a:rPr lang="en-IN" dirty="0"/>
                  <a:t> Measures overall correctness of the model.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IN"/>
                        <m:t>Accuracy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𝑇𝑃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𝑇𝑁</m:t>
                          </m:r>
                        </m:num>
                        <m:den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𝑇𝑃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𝑇𝑁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𝐹𝑃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𝐹𝑁</m:t>
                          </m:r>
                        </m:den>
                      </m:f>
                    </m:oMath>
                  </m:oMathPara>
                </a14:m>
                <a:endParaRPr lang="en-IN" dirty="0"/>
              </a:p>
              <a:p>
                <a:r>
                  <a:rPr lang="en-IN" b="1" dirty="0"/>
                  <a:t>F1 Score</a:t>
                </a:r>
                <a:r>
                  <a:rPr lang="en-IN" dirty="0"/>
                  <a:t> </a:t>
                </a:r>
                <a:r>
                  <a:rPr lang="en-IN" i="1" dirty="0"/>
                  <a:t>(optional but useful)</a:t>
                </a:r>
                <a:r>
                  <a:rPr lang="en-IN" dirty="0"/>
                  <a:t> Harmonic mean of Precision and Recall.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IN"/>
                        <m:t>F</m:t>
                      </m:r>
                      <m:r>
                        <m:rPr>
                          <m:nor/>
                        </m:rPr>
                        <a:rPr lang="en-IN"/>
                        <m:t>1</m:t>
                      </m:r>
                      <m:r>
                        <m:rPr>
                          <m:nor/>
                        </m:rPr>
                        <a:rPr lang="en-IN" i="1"/>
                        <m:t> </m:t>
                      </m:r>
                      <m:r>
                        <m:rPr>
                          <m:nor/>
                        </m:rPr>
                        <a:rPr lang="en-IN" i="1"/>
                        <m:t>Score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IN" i="1"/>
                            <m:t>Precision</m:t>
                          </m:r>
                          <m:r>
                            <a:rPr lang="en-IN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m:rPr>
                              <m:nor/>
                            </m:rPr>
                            <a:rPr lang="en-IN" i="1"/>
                            <m:t>Recall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IN" i="1"/>
                            <m:t>Precision</m:t>
                          </m:r>
                          <m:r>
                            <a:rPr lang="en-IN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nor/>
                            </m:rPr>
                            <a:rPr lang="en-IN" i="1"/>
                            <m:t>Recall</m:t>
                          </m:r>
                        </m:den>
                      </m:f>
                    </m:oMath>
                  </m:oMathPara>
                </a14:m>
                <a:endParaRPr lang="en-IN" dirty="0"/>
              </a:p>
              <a:p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BA9C086-A558-5A07-9C59-D37EC9991D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52551" y="1485900"/>
                <a:ext cx="7629524" cy="5200650"/>
              </a:xfrm>
              <a:blipFill>
                <a:blip r:embed="rId2"/>
                <a:stretch>
                  <a:fillRect l="-719" t="-70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68848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F025F-EB55-669D-3CDE-05D25AF61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3276" y="283702"/>
            <a:ext cx="6589199" cy="680815"/>
          </a:xfrm>
        </p:spPr>
        <p:txBody>
          <a:bodyPr/>
          <a:lstStyle/>
          <a:p>
            <a:r>
              <a:rPr lang="en-IN" dirty="0"/>
              <a:t>Model Formulation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350437D-1FB5-8A30-9AD3-96402DC248A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81125" y="964517"/>
                <a:ext cx="6589199" cy="4007533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IN" b="1" dirty="0"/>
                  <a:t>1. UA-DAAN (Uncertainty-Aware Dynamic Adversarial Adaptation Network)</a:t>
                </a:r>
              </a:p>
              <a:p>
                <a:endParaRPr lang="en-IN" b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IN" b="1"/>
                        <m:t>L</m:t>
                      </m:r>
                      <m:r>
                        <m:rPr>
                          <m:nor/>
                        </m:rPr>
                        <a:rPr lang="en-IN" b="1"/>
                        <m:t> = </m:t>
                      </m:r>
                      <m:r>
                        <m:rPr>
                          <m:nor/>
                        </m:rPr>
                        <a:rPr lang="en-IN" b="1"/>
                        <m:t>Ly</m:t>
                      </m:r>
                      <m:r>
                        <m:rPr>
                          <m:nor/>
                        </m:rPr>
                        <a:rPr lang="en-IN" b="1"/>
                        <m:t> − </m:t>
                      </m:r>
                      <m:r>
                        <m:rPr>
                          <m:nor/>
                        </m:rPr>
                        <a:rPr lang="en-IN" b="1"/>
                        <m:t>λ</m:t>
                      </m:r>
                      <m:r>
                        <m:rPr>
                          <m:nor/>
                        </m:rPr>
                        <a:rPr lang="en-IN" b="1"/>
                        <m:t> × [(1 − </m:t>
                      </m:r>
                      <m:r>
                        <m:rPr>
                          <m:nor/>
                        </m:rPr>
                        <a:rPr lang="en-IN" b="1"/>
                        <m:t>ω</m:t>
                      </m:r>
                      <m:r>
                        <m:rPr>
                          <m:nor/>
                        </m:rPr>
                        <a:rPr lang="en-IN" b="1"/>
                        <m:t>) × </m:t>
                      </m:r>
                      <m:r>
                        <m:rPr>
                          <m:nor/>
                        </m:rPr>
                        <a:rPr lang="en-IN" b="1"/>
                        <m:t>Lg</m:t>
                      </m:r>
                      <m:r>
                        <m:rPr>
                          <m:nor/>
                        </m:rPr>
                        <a:rPr lang="en-IN" b="1"/>
                        <m:t> + </m:t>
                      </m:r>
                      <m:r>
                        <m:rPr>
                          <m:nor/>
                        </m:rPr>
                        <a:rPr lang="en-IN" b="1"/>
                        <m:t>ω</m:t>
                      </m:r>
                      <m:r>
                        <m:rPr>
                          <m:nor/>
                        </m:rPr>
                        <a:rPr lang="en-IN" b="1"/>
                        <m:t> × </m:t>
                      </m:r>
                      <m:r>
                        <m:rPr>
                          <m:nor/>
                        </m:rPr>
                        <a:rPr lang="en-IN" b="1"/>
                        <m:t>Ll</m:t>
                      </m:r>
                      <m:r>
                        <m:rPr>
                          <m:nor/>
                        </m:rPr>
                        <a:rPr lang="en-IN" b="1"/>
                        <m:t>]</m:t>
                      </m:r>
                    </m:oMath>
                  </m:oMathPara>
                </a14:m>
                <a:br>
                  <a:rPr lang="en-IN" b="1" dirty="0"/>
                </a:br>
                <a:endParaRPr lang="ar-AE" dirty="0"/>
              </a:p>
              <a:p>
                <a:pPr marL="0" indent="0">
                  <a:buNone/>
                </a:pPr>
                <a:r>
                  <a:rPr lang="en-IN" dirty="0"/>
                  <a:t>Where:</a:t>
                </a:r>
              </a:p>
              <a:p>
                <a:pPr marL="0" indent="0">
                  <a:buNone/>
                </a:pPr>
                <a:r>
                  <a:rPr lang="en-IN" dirty="0"/>
                  <a:t>𝐿𝑦 → Label classification loss</a:t>
                </a:r>
              </a:p>
              <a:p>
                <a:pPr marL="0" indent="0">
                  <a:buNone/>
                </a:pPr>
                <a:r>
                  <a:rPr lang="en-US" dirty="0"/>
                  <a:t>𝐿𝑔 → Global domain adversarial loss</a:t>
                </a:r>
              </a:p>
              <a:p>
                <a:pPr marL="0" indent="0">
                  <a:buNone/>
                </a:pPr>
                <a:r>
                  <a:rPr lang="en-US" dirty="0"/>
                  <a:t>𝐿𝑙 → Local domain adversarial loss</a:t>
                </a:r>
              </a:p>
              <a:p>
                <a:pPr marL="0" indent="0">
                  <a:buNone/>
                </a:pPr>
                <a:r>
                  <a:rPr lang="en-IN" dirty="0"/>
                  <a:t>𝜆 → Balancing hyperparameter</a:t>
                </a:r>
              </a:p>
              <a:p>
                <a:pPr marL="0" indent="0">
                  <a:buNone/>
                </a:pPr>
                <a:r>
                  <a:rPr lang="en-IN" dirty="0"/>
                  <a:t>𝜔 → Dynamic adversarial</a:t>
                </a:r>
              </a:p>
              <a:p>
                <a:pPr marL="0" indent="0">
                  <a:buNone/>
                </a:pPr>
                <a:r>
                  <a:rPr lang="en-IN" dirty="0"/>
                  <a:t>        factor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350437D-1FB5-8A30-9AD3-96402DC248A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81125" y="964517"/>
                <a:ext cx="6589199" cy="4007533"/>
              </a:xfrm>
              <a:blipFill>
                <a:blip r:embed="rId2"/>
                <a:stretch>
                  <a:fillRect l="-833" t="-152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3C2140A0-618F-1969-7F00-2FB33AAC82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5425" y="3767137"/>
            <a:ext cx="3350014" cy="2600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86413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2301" y="81185"/>
            <a:ext cx="6589199" cy="776065"/>
          </a:xfrm>
        </p:spPr>
        <p:txBody>
          <a:bodyPr/>
          <a:lstStyle/>
          <a:p>
            <a:r>
              <a:rPr lang="en-IN" dirty="0"/>
              <a:t>Cont.</a:t>
            </a: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390650" y="695325"/>
                <a:ext cx="7391399" cy="596265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IN" sz="2000" b="1" dirty="0"/>
                  <a:t>	2. </a:t>
                </a:r>
                <a:r>
                  <a:rPr lang="en-IN" sz="2000" b="1" dirty="0" err="1"/>
                  <a:t>MTNet</a:t>
                </a:r>
                <a:r>
                  <a:rPr lang="en-IN" sz="2000" b="1" dirty="0"/>
                  <a:t> (Transformer-based EEG Model)</a:t>
                </a:r>
              </a:p>
              <a:p>
                <a:pPr marL="0" indent="0">
                  <a:buNone/>
                </a:pPr>
                <a:r>
                  <a:rPr lang="en-IN" sz="2000" b="1" dirty="0"/>
                  <a:t>	Goal</a:t>
                </a:r>
              </a:p>
              <a:p>
                <a:pPr marL="0" indent="0">
                  <a:buNone/>
                </a:pPr>
                <a:r>
                  <a:rPr lang="en-IN" sz="2000" dirty="0"/>
                  <a:t> Capture long-range temporal dependencies from EEG sequences using self-attention.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IN" sz="2000" b="0"/>
                        <m:t>Attention</m:t>
                      </m:r>
                      <m:d>
                        <m:dPr>
                          <m:sepChr m:val=","/>
                          <m:ctrlPr>
                            <a:rPr lang="ar-AE" i="1"/>
                          </m:ctrlPr>
                        </m:dPr>
                        <m:e>
                          <m:r>
                            <a:rPr lang="ar-AE" sz="2000" b="0" i="1"/>
                            <m:t>𝑄</m:t>
                          </m:r>
                        </m:e>
                        <m:e>
                          <m:r>
                            <a:rPr lang="ar-AE" sz="2000" b="0" i="1"/>
                            <m:t>𝐾</m:t>
                          </m:r>
                        </m:e>
                        <m:e>
                          <m:r>
                            <a:rPr lang="ar-AE" sz="2000" b="0" i="1"/>
                            <m:t>𝑉</m:t>
                          </m:r>
                        </m:e>
                      </m:d>
                      <m:r>
                        <a:rPr lang="ar-AE"/>
                        <m:t>=</m:t>
                      </m:r>
                      <m:r>
                        <m:rPr>
                          <m:nor/>
                        </m:rPr>
                        <a:rPr lang="en-IN" i="1"/>
                        <m:t>Softmax</m:t>
                      </m:r>
                      <m:d>
                        <m:dPr>
                          <m:ctrlPr>
                            <a:rPr lang="ar-AE" i="1"/>
                          </m:ctrlPr>
                        </m:dPr>
                        <m:e>
                          <m:f>
                            <m:fPr>
                              <m:ctrlPr>
                                <a:rPr lang="ar-AE" i="1"/>
                              </m:ctrlPr>
                            </m:fPr>
                            <m:num>
                              <m:r>
                                <a:rPr lang="ar-AE" i="1"/>
                                <m:t>𝑄</m:t>
                              </m:r>
                              <m:sSup>
                                <m:sSupPr>
                                  <m:ctrlPr>
                                    <a:rPr lang="ar-AE" i="1"/>
                                  </m:ctrlPr>
                                </m:sSupPr>
                                <m:e>
                                  <m:r>
                                    <a:rPr lang="ar-AE" i="1"/>
                                    <m:t>𝐾</m:t>
                                  </m:r>
                                </m:e>
                                <m:sup>
                                  <m:r>
                                    <a:rPr lang="ar-AE" i="1"/>
                                    <m:t>𝑇</m:t>
                                  </m:r>
                                </m:sup>
                              </m:sSup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ar-AE" i="1"/>
                                  </m:ctrlPr>
                                </m:radPr>
                                <m:deg/>
                                <m:e>
                                  <m:sSub>
                                    <m:sSubPr>
                                      <m:ctrlPr>
                                        <a:rPr lang="ar-AE" i="1"/>
                                      </m:ctrlPr>
                                    </m:sSubPr>
                                    <m:e>
                                      <m:r>
                                        <a:rPr lang="ar-AE" i="1"/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ar-AE" i="1"/>
                                        <m:t>𝑘</m:t>
                                      </m:r>
                                    </m:sub>
                                  </m:sSub>
                                </m:e>
                              </m:rad>
                            </m:den>
                          </m:f>
                        </m:e>
                      </m:d>
                      <m:r>
                        <a:rPr lang="ar-AE" i="1"/>
                        <m:t>𝑉</m:t>
                      </m:r>
                    </m:oMath>
                  </m:oMathPara>
                </a14:m>
                <a:endParaRPr lang="ar-AE" sz="2000" b="0" dirty="0"/>
              </a:p>
              <a:p>
                <a:pPr marL="0" indent="0">
                  <a:buNone/>
                </a:pPr>
                <a:r>
                  <a:rPr lang="en-IN" sz="2000" dirty="0"/>
                  <a:t>Where: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IN" sz="2000" i="1"/>
                      <m:t>𝑄</m:t>
                    </m:r>
                    <m:r>
                      <a:rPr lang="en-IN" sz="2000"/>
                      <m:t>,</m:t>
                    </m:r>
                    <m:r>
                      <a:rPr lang="en-IN" sz="2000" i="1"/>
                      <m:t>𝐾</m:t>
                    </m:r>
                    <m:r>
                      <a:rPr lang="en-IN" sz="2000"/>
                      <m:t>,</m:t>
                    </m:r>
                    <m:r>
                      <a:rPr lang="en-IN" sz="2000" i="1"/>
                      <m:t>𝑉</m:t>
                    </m:r>
                  </m:oMath>
                </a14:m>
                <a:r>
                  <a:rPr lang="en-IN" sz="2000" dirty="0"/>
                  <a:t>are query, key, and value projections of EEG embeddings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sz="2000" smtClean="0"/>
                        </m:ctrlPr>
                      </m:sSubPr>
                      <m:e>
                        <m:r>
                          <a:rPr lang="ar-AE" sz="2000" i="1"/>
                          <m:t>𝑑</m:t>
                        </m:r>
                      </m:e>
                      <m:sub>
                        <m:r>
                          <a:rPr lang="ar-AE" sz="2000" i="1"/>
                          <m:t>𝑘</m:t>
                        </m:r>
                      </m:sub>
                    </m:sSub>
                  </m:oMath>
                </a14:m>
                <a:r>
                  <a:rPr lang="ar-AE" sz="2000" dirty="0"/>
                  <a:t>→ </a:t>
                </a:r>
                <a:r>
                  <a:rPr lang="en-IN" sz="2000" dirty="0"/>
                  <a:t>feature dimension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sz="2000"/>
                        </m:ctrlPr>
                      </m:sSubPr>
                      <m:e>
                        <m:r>
                          <a:rPr lang="ar-AE" sz="2000" smtClean="0"/>
                          <m:t>ℒ</m:t>
                        </m:r>
                      </m:e>
                      <m:sub>
                        <m:r>
                          <a:rPr lang="ar-AE" sz="2000" i="1"/>
                          <m:t>𝑀𝑇𝑁𝑒𝑡</m:t>
                        </m:r>
                      </m:sub>
                    </m:sSub>
                  </m:oMath>
                </a14:m>
                <a:r>
                  <a:rPr lang="ar-AE" sz="2000" dirty="0"/>
                  <a:t>→ </a:t>
                </a:r>
                <a:r>
                  <a:rPr lang="en-IN" sz="2000" dirty="0"/>
                  <a:t>cross-entropy loss for multi-class depression prediction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90650" y="695325"/>
                <a:ext cx="7391399" cy="5962650"/>
              </a:xfrm>
              <a:blipFill>
                <a:blip r:embed="rId2"/>
                <a:stretch>
                  <a:fillRect l="-907" t="-51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00C1D258-E9A7-7110-20DA-7729E8F03A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2550" y="4124324"/>
            <a:ext cx="3705630" cy="237211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9D2DC-5533-4EA6-A158-22B9F881A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5201" y="228601"/>
            <a:ext cx="6589199" cy="718178"/>
          </a:xfrm>
        </p:spPr>
        <p:txBody>
          <a:bodyPr/>
          <a:lstStyle/>
          <a:p>
            <a:r>
              <a:rPr lang="en-IN" dirty="0"/>
              <a:t>Cont.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D60A8C-9F82-4209-F1E8-6F6C50BBAF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42415" y="1143000"/>
            <a:ext cx="6591985" cy="4768222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3. MSDSTT (Multi-Scale Deep Spatio-Temporal Transformer)</a:t>
            </a:r>
          </a:p>
          <a:p>
            <a:pPr marL="0" indent="0">
              <a:buNone/>
            </a:pPr>
            <a:r>
              <a:rPr lang="en-IN" dirty="0"/>
              <a:t>  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0AD51F-0F66-BB55-8A35-AF53C7C92C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0700" y="3025139"/>
            <a:ext cx="6667500" cy="335280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E2D324E-F432-05BB-0B7F-5DF7F41925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9340" y="1554480"/>
            <a:ext cx="5561647" cy="1470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5648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F3BD3-1A14-401A-9AA4-DBDE8C6C5D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5201" y="403860"/>
            <a:ext cx="6589199" cy="632460"/>
          </a:xfrm>
        </p:spPr>
        <p:txBody>
          <a:bodyPr>
            <a:normAutofit fontScale="90000"/>
          </a:bodyPr>
          <a:lstStyle/>
          <a:p>
            <a:r>
              <a:rPr lang="en-IN" dirty="0"/>
              <a:t>Cont.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450F2CB-F58A-EF0A-1427-A10B727773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44040" y="3970020"/>
            <a:ext cx="6425044" cy="24841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5A0FE71-545C-3E4F-2E6B-EA48A3E199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560" y="1763688"/>
            <a:ext cx="6888480" cy="209931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CE19F7B-B2B7-16F1-7297-F34F62D9A7AF}"/>
              </a:ext>
            </a:extLst>
          </p:cNvPr>
          <p:cNvSpPr txBox="1"/>
          <p:nvPr/>
        </p:nvSpPr>
        <p:spPr>
          <a:xfrm>
            <a:off x="1615440" y="1003400"/>
            <a:ext cx="72618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4. 1DCNN–</a:t>
            </a:r>
            <a:r>
              <a:rPr lang="en-US" b="1" dirty="0" err="1"/>
              <a:t>BiLSTM</a:t>
            </a:r>
            <a:r>
              <a:rPr lang="en-US" b="1" dirty="0"/>
              <a:t>–Cross Attention (Stress Severity Detection </a:t>
            </a:r>
          </a:p>
          <a:p>
            <a:r>
              <a:rPr lang="en-US" b="1" dirty="0"/>
              <a:t>Model)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9824370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A19E0-4B77-14B4-AD6B-E52ABDBAC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Solution &amp; Key Results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0AE6BE7-6D28-F528-24DC-1991DB8AF12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511809" y="1524000"/>
                <a:ext cx="7022592" cy="4876800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IN" b="1" dirty="0"/>
                  <a:t>Evaluation Metrics</a:t>
                </a:r>
              </a:p>
              <a:p>
                <a:r>
                  <a:rPr lang="en-IN" b="1" dirty="0"/>
                  <a:t>Precision</a:t>
                </a:r>
                <a:r>
                  <a:rPr lang="en-IN" dirty="0"/>
                  <a:t> Measures how many predicted positives are actually correct.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IN" b="0"/>
                        <m:t>Precision</m:t>
                      </m:r>
                      <m:r>
                        <a:rPr lang="en-IN"/>
                        <m:t>=</m:t>
                      </m:r>
                      <m:f>
                        <m:fPr>
                          <m:ctrlPr>
                            <a:rPr lang="ar-AE" i="1"/>
                          </m:ctrlPr>
                        </m:fPr>
                        <m:num>
                          <m:r>
                            <a:rPr lang="ar-AE" i="1"/>
                            <m:t>𝑇𝑃</m:t>
                          </m:r>
                        </m:num>
                        <m:den>
                          <m:r>
                            <a:rPr lang="ar-AE" i="1"/>
                            <m:t>𝑇𝑃</m:t>
                          </m:r>
                          <m:r>
                            <a:rPr lang="ar-AE"/>
                            <m:t>+</m:t>
                          </m:r>
                          <m:r>
                            <a:rPr lang="ar-AE" i="1"/>
                            <m:t>𝐹𝑃</m:t>
                          </m:r>
                        </m:den>
                      </m:f>
                    </m:oMath>
                  </m:oMathPara>
                </a14:m>
                <a:endParaRPr lang="ar-AE" b="0" dirty="0"/>
              </a:p>
              <a:p>
                <a:r>
                  <a:rPr lang="en-IN" b="1" dirty="0"/>
                  <a:t>Recall (Sensitivity)</a:t>
                </a:r>
                <a:r>
                  <a:rPr lang="en-IN" dirty="0"/>
                  <a:t> Measures how many actual positives were correctly identified.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IN" b="0"/>
                        <m:t>Recall</m:t>
                      </m:r>
                      <m:r>
                        <a:rPr lang="en-IN"/>
                        <m:t>=</m:t>
                      </m:r>
                      <m:f>
                        <m:fPr>
                          <m:ctrlPr>
                            <a:rPr lang="ar-AE" i="1"/>
                          </m:ctrlPr>
                        </m:fPr>
                        <m:num>
                          <m:r>
                            <a:rPr lang="ar-AE" i="1"/>
                            <m:t>𝑇𝑃</m:t>
                          </m:r>
                        </m:num>
                        <m:den>
                          <m:r>
                            <a:rPr lang="ar-AE" i="1"/>
                            <m:t>𝑇𝑃</m:t>
                          </m:r>
                          <m:r>
                            <a:rPr lang="ar-AE"/>
                            <m:t>+</m:t>
                          </m:r>
                          <m:r>
                            <a:rPr lang="ar-AE" i="1"/>
                            <m:t>𝐹𝑁</m:t>
                          </m:r>
                        </m:den>
                      </m:f>
                    </m:oMath>
                  </m:oMathPara>
                </a14:m>
                <a:endParaRPr lang="en-IN" b="0" dirty="0"/>
              </a:p>
              <a:p>
                <a:r>
                  <a:rPr lang="en-IN" b="1" dirty="0"/>
                  <a:t>Accuracy</a:t>
                </a:r>
                <a:r>
                  <a:rPr lang="en-IN" dirty="0"/>
                  <a:t> Measures overall correctness of the model.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IN" b="0"/>
                        <m:t>Accuracy</m:t>
                      </m:r>
                      <m:r>
                        <a:rPr lang="en-IN"/>
                        <m:t>=</m:t>
                      </m:r>
                      <m:f>
                        <m:fPr>
                          <m:ctrlPr>
                            <a:rPr lang="ar-AE" i="1"/>
                          </m:ctrlPr>
                        </m:fPr>
                        <m:num>
                          <m:r>
                            <a:rPr lang="ar-AE" i="1"/>
                            <m:t>𝑇𝑃</m:t>
                          </m:r>
                          <m:r>
                            <a:rPr lang="ar-AE"/>
                            <m:t>+</m:t>
                          </m:r>
                          <m:r>
                            <a:rPr lang="ar-AE" i="1"/>
                            <m:t>𝑇𝑁</m:t>
                          </m:r>
                        </m:num>
                        <m:den>
                          <m:r>
                            <a:rPr lang="ar-AE" i="1"/>
                            <m:t>𝑇𝑃</m:t>
                          </m:r>
                          <m:r>
                            <a:rPr lang="ar-AE"/>
                            <m:t>+</m:t>
                          </m:r>
                          <m:r>
                            <a:rPr lang="ar-AE" i="1"/>
                            <m:t>𝑇𝑁</m:t>
                          </m:r>
                          <m:r>
                            <a:rPr lang="ar-AE"/>
                            <m:t>+</m:t>
                          </m:r>
                          <m:r>
                            <a:rPr lang="ar-AE" i="1"/>
                            <m:t>𝐹𝑃</m:t>
                          </m:r>
                          <m:r>
                            <a:rPr lang="ar-AE"/>
                            <m:t>+</m:t>
                          </m:r>
                          <m:r>
                            <a:rPr lang="ar-AE" i="1"/>
                            <m:t>𝐹𝑁</m:t>
                          </m:r>
                        </m:den>
                      </m:f>
                    </m:oMath>
                  </m:oMathPara>
                </a14:m>
                <a:endParaRPr lang="en-IN" b="0" dirty="0"/>
              </a:p>
              <a:p>
                <a:r>
                  <a:rPr lang="en-IN" b="1" dirty="0"/>
                  <a:t>F1 Score</a:t>
                </a:r>
                <a:r>
                  <a:rPr lang="en-IN" dirty="0"/>
                  <a:t> </a:t>
                </a:r>
                <a:r>
                  <a:rPr lang="en-IN" i="1" dirty="0"/>
                  <a:t>(optional but useful)</a:t>
                </a:r>
                <a:r>
                  <a:rPr lang="en-IN" dirty="0"/>
                  <a:t> Harmonic mean of Precision and Recall.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IN" b="0"/>
                        <m:t>F</m:t>
                      </m:r>
                      <m:r>
                        <m:rPr>
                          <m:nor/>
                        </m:rPr>
                        <a:rPr lang="en-IN" b="0"/>
                        <m:t>1</m:t>
                      </m:r>
                      <m:r>
                        <m:rPr>
                          <m:nor/>
                        </m:rPr>
                        <a:rPr lang="en-IN" b="0" i="1"/>
                        <m:t> </m:t>
                      </m:r>
                      <m:r>
                        <m:rPr>
                          <m:nor/>
                        </m:rPr>
                        <a:rPr lang="en-IN" b="0" i="1"/>
                        <m:t>Score</m:t>
                      </m:r>
                      <m:r>
                        <a:rPr lang="en-IN"/>
                        <m:t>=</m:t>
                      </m:r>
                      <m:r>
                        <a:rPr lang="en-IN"/>
                        <m:t>2</m:t>
                      </m:r>
                      <m:r>
                        <a:rPr lang="en-IN"/>
                        <m:t>⋅</m:t>
                      </m:r>
                      <m:f>
                        <m:fPr>
                          <m:ctrlPr>
                            <a:rPr lang="ar-AE" i="1"/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IN" i="1"/>
                            <m:t>Precision</m:t>
                          </m:r>
                          <m:r>
                            <a:rPr lang="en-IN"/>
                            <m:t>⋅</m:t>
                          </m:r>
                          <m:r>
                            <m:rPr>
                              <m:nor/>
                            </m:rPr>
                            <a:rPr lang="en-IN" i="1"/>
                            <m:t>Recall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IN" i="1"/>
                            <m:t>Precision</m:t>
                          </m:r>
                          <m:r>
                            <a:rPr lang="en-IN"/>
                            <m:t>+</m:t>
                          </m:r>
                          <m:r>
                            <m:rPr>
                              <m:nor/>
                            </m:rPr>
                            <a:rPr lang="en-IN" i="1"/>
                            <m:t>Recall</m:t>
                          </m:r>
                        </m:den>
                      </m:f>
                    </m:oMath>
                  </m:oMathPara>
                </a14:m>
                <a:endParaRPr lang="ar-AE" b="0" dirty="0"/>
              </a:p>
              <a:p>
                <a:pPr marL="0" indent="0">
                  <a:buNone/>
                </a:pPr>
                <a:endParaRPr lang="ar-AE" b="0" dirty="0"/>
              </a:p>
              <a:p>
                <a:pPr marL="0" indent="0">
                  <a:buNone/>
                </a:pPr>
                <a:endParaRPr lang="ar-AE" b="0" dirty="0"/>
              </a:p>
              <a:p>
                <a:pPr marL="0" indent="0">
                  <a:buNone/>
                </a:pPr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0AE6BE7-6D28-F528-24DC-1991DB8AF12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11809" y="1524000"/>
                <a:ext cx="7022592" cy="4876800"/>
              </a:xfrm>
              <a:blipFill>
                <a:blip r:embed="rId2"/>
                <a:stretch>
                  <a:fillRect l="-694" t="-1250" r="-1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809839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169336"/>
            <a:ext cx="6589199" cy="757256"/>
          </a:xfrm>
        </p:spPr>
        <p:txBody>
          <a:bodyPr/>
          <a:lstStyle/>
          <a:p>
            <a:r>
              <a:rPr lang="en-IN" dirty="0"/>
              <a:t>Cont. 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 flipH="1">
            <a:off x="1304542" y="4962145"/>
            <a:ext cx="7034783" cy="1060704"/>
          </a:xfrm>
        </p:spPr>
        <p:txBody>
          <a:bodyPr>
            <a:normAutofit/>
          </a:bodyPr>
          <a:lstStyle/>
          <a:p>
            <a:r>
              <a:rPr lang="en-US" dirty="0"/>
              <a:t>UA-DAAN generalizes overall best across subjects, while MTNet shows highest accuracy.</a:t>
            </a:r>
          </a:p>
          <a:p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3680F95-58FD-699F-AC68-086818943C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5110373"/>
              </p:ext>
            </p:extLst>
          </p:nvPr>
        </p:nvGraphicFramePr>
        <p:xfrm>
          <a:off x="1438656" y="926593"/>
          <a:ext cx="6778751" cy="322178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24510">
                  <a:extLst>
                    <a:ext uri="{9D8B030D-6E8A-4147-A177-3AD203B41FA5}">
                      <a16:colId xmlns:a16="http://schemas.microsoft.com/office/drawing/2014/main" val="2344060019"/>
                    </a:ext>
                  </a:extLst>
                </a:gridCol>
                <a:gridCol w="1051950">
                  <a:extLst>
                    <a:ext uri="{9D8B030D-6E8A-4147-A177-3AD203B41FA5}">
                      <a16:colId xmlns:a16="http://schemas.microsoft.com/office/drawing/2014/main" val="2649209380"/>
                    </a:ext>
                  </a:extLst>
                </a:gridCol>
                <a:gridCol w="1025759">
                  <a:extLst>
                    <a:ext uri="{9D8B030D-6E8A-4147-A177-3AD203B41FA5}">
                      <a16:colId xmlns:a16="http://schemas.microsoft.com/office/drawing/2014/main" val="2979327229"/>
                    </a:ext>
                  </a:extLst>
                </a:gridCol>
                <a:gridCol w="776960">
                  <a:extLst>
                    <a:ext uri="{9D8B030D-6E8A-4147-A177-3AD203B41FA5}">
                      <a16:colId xmlns:a16="http://schemas.microsoft.com/office/drawing/2014/main" val="843456258"/>
                    </a:ext>
                  </a:extLst>
                </a:gridCol>
                <a:gridCol w="999572">
                  <a:extLst>
                    <a:ext uri="{9D8B030D-6E8A-4147-A177-3AD203B41FA5}">
                      <a16:colId xmlns:a16="http://schemas.microsoft.com/office/drawing/2014/main" val="2790216116"/>
                    </a:ext>
                  </a:extLst>
                </a:gridCol>
              </a:tblGrid>
              <a:tr h="73170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Model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Accuracy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Precision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Recall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F1-Score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3204518844"/>
                  </a:ext>
                </a:extLst>
              </a:tr>
              <a:tr h="73170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IN" sz="1100" dirty="0">
                          <a:effectLst/>
                        </a:rPr>
                        <a:t>UA-DAAN</a:t>
                      </a:r>
                      <a:endParaRPr lang="en-IN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IN" sz="1100" dirty="0">
                          <a:effectLst/>
                        </a:rPr>
                        <a:t>60.56%</a:t>
                      </a:r>
                      <a:endParaRPr lang="en-IN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69.49%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59.99%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64.39%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4096221494"/>
                  </a:ext>
                </a:extLst>
              </a:tr>
              <a:tr h="60041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MSDSTT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62.6%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33.3%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63.9%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65.5%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2018666042"/>
                  </a:ext>
                </a:extLst>
              </a:tr>
              <a:tr h="46911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MTNet (EEG-only)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64.%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78%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64%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54%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4101460653"/>
                  </a:ext>
                </a:extLst>
              </a:tr>
              <a:tr h="60041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IN" sz="1100" dirty="0">
                          <a:effectLst/>
                        </a:rPr>
                        <a:t>CNN–BiLSTM–Cross Attention</a:t>
                      </a:r>
                      <a:endParaRPr lang="en-IN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40%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37%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40%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IN" sz="1100" dirty="0">
                          <a:effectLst/>
                        </a:rPr>
                        <a:t>36.5%</a:t>
                      </a:r>
                    </a:p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IN" sz="1100" dirty="0">
                          <a:effectLst/>
                        </a:rPr>
                        <a:t> </a:t>
                      </a:r>
                    </a:p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IN" sz="1100" dirty="0">
                          <a:effectLst/>
                        </a:rPr>
                        <a:t> </a:t>
                      </a:r>
                      <a:endParaRPr lang="en-IN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222729366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2081" y="624110"/>
            <a:ext cx="7132320" cy="1280890"/>
          </a:xfrm>
        </p:spPr>
        <p:txBody>
          <a:bodyPr>
            <a:normAutofit/>
          </a:bodyPr>
          <a:lstStyle/>
          <a:p>
            <a:r>
              <a:rPr dirty="0"/>
              <a:t>Sensitivity Analysis / What-If Scenarios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31621" y="2133600"/>
            <a:ext cx="7002780" cy="4381500"/>
          </a:xfrm>
        </p:spPr>
        <p:txBody>
          <a:bodyPr>
            <a:normAutofit fontScale="92500" lnSpcReduction="20000"/>
          </a:bodyPr>
          <a:lstStyle/>
          <a:p>
            <a:r>
              <a:rPr lang="en-IN" sz="2000" b="1" dirty="0"/>
              <a:t>UA-DAAN</a:t>
            </a:r>
            <a:r>
              <a:rPr lang="en-IN" sz="2000" dirty="0"/>
              <a:t> :</a:t>
            </a:r>
            <a:br>
              <a:rPr lang="en-IN" sz="2000" dirty="0"/>
            </a:br>
            <a:r>
              <a:rPr lang="en-IN" sz="2000" dirty="0"/>
              <a:t>Performance </a:t>
            </a:r>
            <a:r>
              <a:rPr lang="en-IN" sz="2000" dirty="0" err="1"/>
              <a:t>analyzed</a:t>
            </a:r>
            <a:r>
              <a:rPr lang="en-IN" sz="2000" dirty="0"/>
              <a:t> under varying domain shifts and uncertainty thresholds; robustness confirmed against cross-subject variations.</a:t>
            </a:r>
          </a:p>
          <a:p>
            <a:r>
              <a:rPr lang="en-IN" sz="2000" b="1" dirty="0" err="1"/>
              <a:t>MTNet</a:t>
            </a:r>
            <a:r>
              <a:rPr lang="en-IN" sz="2000" dirty="0"/>
              <a:t> :</a:t>
            </a:r>
            <a:br>
              <a:rPr lang="en-IN" sz="2000" dirty="0"/>
            </a:br>
            <a:r>
              <a:rPr lang="en-IN" sz="2000" dirty="0"/>
              <a:t>Evaluated across different sequence lengths and learning rates; attention layers shown to stabilize results under temporal noise.</a:t>
            </a:r>
          </a:p>
          <a:p>
            <a:r>
              <a:rPr lang="en-IN" sz="2000" b="1" dirty="0"/>
              <a:t>MSDSTT</a:t>
            </a:r>
            <a:r>
              <a:rPr lang="en-IN" sz="2000" dirty="0"/>
              <a:t> :</a:t>
            </a:r>
            <a:br>
              <a:rPr lang="en-IN" sz="2000" dirty="0"/>
            </a:br>
            <a:r>
              <a:rPr lang="en-IN" sz="2000" dirty="0"/>
              <a:t>Tested with variable EEG channel counts and scaling factors; maintained accuracy, proving resilience to missing or noisy electrodes.</a:t>
            </a:r>
          </a:p>
          <a:p>
            <a:r>
              <a:rPr lang="en-IN" sz="2000" b="1" dirty="0"/>
              <a:t>1DCNN–BiLSTM–Cross Attention</a:t>
            </a:r>
            <a:r>
              <a:rPr lang="en-IN" sz="2000" dirty="0"/>
              <a:t> :</a:t>
            </a:r>
            <a:br>
              <a:rPr lang="en-IN" sz="2000" dirty="0"/>
            </a:br>
            <a:r>
              <a:rPr lang="en-IN" sz="2000" dirty="0"/>
              <a:t>Assessed under changing emotional conditions, dropout rates, and noise levels; model remained consistent, showing strong generalization.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2101" y="152400"/>
            <a:ext cx="6972300" cy="784860"/>
          </a:xfrm>
        </p:spPr>
        <p:txBody>
          <a:bodyPr/>
          <a:lstStyle/>
          <a:p>
            <a:r>
              <a:rPr dirty="0" err="1"/>
              <a:t>Conclusio</a:t>
            </a:r>
            <a:r>
              <a:rPr lang="en-IN" dirty="0"/>
              <a:t>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07066" y="937260"/>
            <a:ext cx="7400714" cy="5768340"/>
          </a:xfrm>
        </p:spPr>
        <p:txBody>
          <a:bodyPr>
            <a:normAutofit fontScale="92500" lnSpcReduction="20000"/>
          </a:bodyPr>
          <a:lstStyle/>
          <a:p>
            <a:r>
              <a:rPr lang="en-IN" b="1" dirty="0"/>
              <a:t>1. UA-DAAN</a:t>
            </a:r>
            <a:br>
              <a:rPr lang="en-IN" dirty="0"/>
            </a:br>
            <a:r>
              <a:rPr lang="en-IN" dirty="0"/>
              <a:t>The UA-DAAN model effectively generalizes across subjects by combining domain adaptation and uncertainty </a:t>
            </a:r>
            <a:r>
              <a:rPr lang="en-IN" dirty="0" err="1"/>
              <a:t>modeling</a:t>
            </a:r>
            <a:r>
              <a:rPr lang="en-IN" dirty="0"/>
              <a:t>.</a:t>
            </a:r>
            <a:br>
              <a:rPr lang="en-IN" dirty="0"/>
            </a:br>
            <a:r>
              <a:rPr lang="en-IN" dirty="0"/>
              <a:t>It achieves robust EEG-based depression recognition, outperforming baseline models in cross-domain scenarios.</a:t>
            </a:r>
          </a:p>
          <a:p>
            <a:endParaRPr lang="en-IN" dirty="0"/>
          </a:p>
          <a:p>
            <a:r>
              <a:rPr lang="en-IN" b="1" dirty="0"/>
              <a:t>2. </a:t>
            </a:r>
            <a:r>
              <a:rPr lang="en-IN" b="1" dirty="0" err="1"/>
              <a:t>MTNet</a:t>
            </a:r>
            <a:br>
              <a:rPr lang="en-IN" dirty="0"/>
            </a:br>
            <a:r>
              <a:rPr lang="en-IN" dirty="0" err="1"/>
              <a:t>MTNet</a:t>
            </a:r>
            <a:r>
              <a:rPr lang="en-IN" dirty="0"/>
              <a:t> successfully captures long-range temporal dependencies in EEG signals using Transformer attention mechanisms.</a:t>
            </a:r>
            <a:br>
              <a:rPr lang="en-IN" dirty="0"/>
            </a:br>
            <a:r>
              <a:rPr lang="en-IN" dirty="0"/>
              <a:t>It delivers the highest classification accuracy and F1-score, proving its strength in depression severity prediction.</a:t>
            </a:r>
            <a:br>
              <a:rPr lang="en-IN" dirty="0"/>
            </a:br>
            <a:endParaRPr lang="en-IN" dirty="0"/>
          </a:p>
          <a:p>
            <a:r>
              <a:rPr lang="en-IN" b="1" dirty="0"/>
              <a:t>3. MSDSTT</a:t>
            </a:r>
            <a:br>
              <a:rPr lang="en-IN" dirty="0"/>
            </a:br>
            <a:r>
              <a:rPr lang="en-IN" dirty="0" err="1"/>
              <a:t>MSDSTT</a:t>
            </a:r>
            <a:r>
              <a:rPr lang="en-IN" dirty="0"/>
              <a:t> demonstrates superior performance by integrating multi-scale CNN, TCN, and Transformer modules.</a:t>
            </a:r>
            <a:br>
              <a:rPr lang="en-IN" dirty="0"/>
            </a:br>
            <a:r>
              <a:rPr lang="en-IN" dirty="0"/>
              <a:t>Its deep </a:t>
            </a:r>
            <a:r>
              <a:rPr lang="en-IN" dirty="0" err="1"/>
              <a:t>spatio</a:t>
            </a:r>
            <a:r>
              <a:rPr lang="en-IN" dirty="0"/>
              <a:t>-temporal fusion enables accurate and stable EEG-based anxiety and emotion classification.</a:t>
            </a:r>
            <a:br>
              <a:rPr lang="en-IN" dirty="0"/>
            </a:br>
            <a:endParaRPr lang="en-IN" dirty="0"/>
          </a:p>
          <a:p>
            <a:r>
              <a:rPr lang="en-IN" b="1" dirty="0"/>
              <a:t>4. 1DCNN–BiLSTM–Cross Attention</a:t>
            </a:r>
            <a:br>
              <a:rPr lang="en-IN" dirty="0"/>
            </a:br>
            <a:r>
              <a:rPr lang="en-IN" dirty="0"/>
              <a:t>This hybrid model efficiently combines spatial-temporal learning with attention and </a:t>
            </a:r>
            <a:r>
              <a:rPr lang="en-IN" dirty="0" err="1"/>
              <a:t>XGBoost</a:t>
            </a:r>
            <a:r>
              <a:rPr lang="en-IN" dirty="0"/>
              <a:t> regression.</a:t>
            </a:r>
            <a:br>
              <a:rPr lang="en-IN" dirty="0"/>
            </a:br>
            <a:r>
              <a:rPr lang="en-IN" dirty="0"/>
              <a:t>It achieves reliable stress severity estimation, showing strong robustness and emotion-aware performance.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3ADAE-7821-FDD1-0862-19715CAC0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4E0E21-0A4E-F5D9-A6B3-2EB6621BC7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9333" y="1481667"/>
            <a:ext cx="7095067" cy="4944533"/>
          </a:xfrm>
        </p:spPr>
        <p:txBody>
          <a:bodyPr>
            <a:normAutofit/>
          </a:bodyPr>
          <a:lstStyle/>
          <a:p>
            <a:r>
              <a:rPr lang="en-US" sz="2000" b="1" dirty="0"/>
              <a:t>Multimodal Fusion (EEG + EOG + HRV)</a:t>
            </a:r>
            <a:r>
              <a:rPr lang="en-US" sz="2000" dirty="0"/>
              <a:t> Combines brain signals, eye movements, and heart rate variability for richer emotional and physiological insights.</a:t>
            </a:r>
          </a:p>
          <a:p>
            <a:r>
              <a:rPr lang="en-US" sz="2000" b="1" dirty="0"/>
              <a:t>Self-Supervised EEG Pretraining</a:t>
            </a:r>
            <a:r>
              <a:rPr lang="en-US" sz="2000" dirty="0"/>
              <a:t> Learns patterns from unlabeled EEG data before fine-tuning, improving model performance and generalization.</a:t>
            </a:r>
          </a:p>
          <a:p>
            <a:r>
              <a:rPr lang="en-US" sz="2000" b="1" dirty="0"/>
              <a:t>Regression-Based Severity Scoring</a:t>
            </a:r>
            <a:r>
              <a:rPr lang="en-US" sz="2000" dirty="0"/>
              <a:t> Predicts a continuous depression score instead of fixed categories, allowing finer diagnosis and tracking.</a:t>
            </a:r>
          </a:p>
          <a:p>
            <a:r>
              <a:rPr lang="en-US" sz="2000" b="1" dirty="0"/>
              <a:t>Explainability with Grad-CAM &amp; SHAP</a:t>
            </a:r>
            <a:r>
              <a:rPr lang="en-US" sz="2000" dirty="0"/>
              <a:t> Highlights important EEG features influencing predictions, helping clinicians interpret model decisions.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8494330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219B3-F79E-797E-3428-724213179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2498AD-D431-39FF-7DED-B8B3B3E6D5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000" dirty="0"/>
              <a:t> UA-DAAN </a:t>
            </a:r>
            <a:r>
              <a:rPr lang="en-IN" sz="1200" dirty="0"/>
              <a:t>[</a:t>
            </a:r>
            <a:r>
              <a:rPr lang="en-IN" sz="1200" dirty="0">
                <a:solidFill>
                  <a:srgbClr val="FB9318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UA-DAAN: An Uncertainty-Aware Dynamic Adversarial Adaptation Network for EEG-Based Depression Recognition | IEEE Journals &amp; Magazine | IEEE </a:t>
            </a:r>
            <a:r>
              <a:rPr lang="en-IN" sz="1200" dirty="0">
                <a:solidFill>
                  <a:schemeClr val="accent2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Xplore</a:t>
            </a:r>
            <a:r>
              <a:rPr lang="en-IN" sz="1200" dirty="0"/>
              <a:t>]</a:t>
            </a:r>
          </a:p>
          <a:p>
            <a:r>
              <a:rPr lang="en-IN" sz="2000" dirty="0"/>
              <a:t> </a:t>
            </a:r>
            <a:r>
              <a:rPr lang="en-IN" sz="2000" dirty="0" err="1"/>
              <a:t>MTNet</a:t>
            </a:r>
            <a:r>
              <a:rPr lang="en-IN" sz="2000" dirty="0"/>
              <a:t> </a:t>
            </a:r>
            <a:r>
              <a:rPr lang="en-IN" sz="1200" dirty="0"/>
              <a:t>[</a:t>
            </a:r>
            <a:r>
              <a:rPr lang="en-US" sz="1200" dirty="0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MTNet: Multimodal transformer network for mild depression detection through fusion of EEG and eye tracking - ScienceDirect</a:t>
            </a:r>
            <a:r>
              <a:rPr lang="en-IN" sz="1200" dirty="0"/>
              <a:t>]</a:t>
            </a:r>
          </a:p>
          <a:p>
            <a:r>
              <a:rPr lang="en-IN" sz="2000" dirty="0"/>
              <a:t> MSDSTT </a:t>
            </a:r>
            <a:r>
              <a:rPr lang="en-IN" sz="1200" dirty="0"/>
              <a:t>[</a:t>
            </a:r>
            <a:r>
              <a:rPr lang="en-US" sz="1200" dirty="0">
                <a:solidFill>
                  <a:schemeClr val="accent2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</a:t>
            </a:r>
            <a:r>
              <a:rPr lang="en-US" sz="1200" dirty="0">
                <a:solidFill>
                  <a:srgbClr val="FB9318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EG-based </a:t>
            </a:r>
            <a:r>
              <a:rPr lang="en-US" sz="1200" dirty="0">
                <a:solidFill>
                  <a:schemeClr val="accent2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anxiety emotion classification using an optimized convolutional neural network and transformer | Signal, Image and Video Processing</a:t>
            </a:r>
            <a:r>
              <a:rPr lang="en-IN" sz="1200" dirty="0"/>
              <a:t>]</a:t>
            </a:r>
          </a:p>
          <a:p>
            <a:r>
              <a:rPr lang="en-IN" sz="2000" dirty="0"/>
              <a:t> CNN–BiLSTM–Cross Attention </a:t>
            </a:r>
            <a:r>
              <a:rPr lang="en-IN" sz="1200" dirty="0"/>
              <a:t>[</a:t>
            </a:r>
            <a:r>
              <a:rPr lang="en-US" sz="1200" dirty="0">
                <a:solidFill>
                  <a:schemeClr val="accent2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Stress Severity Detection in College Students Using Emotional Pulse Signals and Deep Learning | IEEE Journals &amp; Magazine | IEEE Xplore</a:t>
            </a:r>
            <a:r>
              <a:rPr lang="en-IN" sz="1200" dirty="0"/>
              <a:t>] 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08139301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TM02892315[[fn=Wisp]]</Template>
  <TotalTime>594</TotalTime>
  <Words>1263</Words>
  <Application>Microsoft Office PowerPoint</Application>
  <PresentationFormat>On-screen Show (4:3)</PresentationFormat>
  <Paragraphs>147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Calibri</vt:lpstr>
      <vt:lpstr>Cambria Math</vt:lpstr>
      <vt:lpstr>Century Gothic</vt:lpstr>
      <vt:lpstr>Wingdings 3</vt:lpstr>
      <vt:lpstr>Wisp</vt:lpstr>
      <vt:lpstr>Project Instructor –  Dr. Kailash W. Kalare,       MNNIT Allahabad </vt:lpstr>
      <vt:lpstr> Team Members :  Nitish Sonkar (20221060) Antariksh Kashyap Mech (20224026) Shreyansh Karamtot (20223255) Kiran Kumar Sharma (20214116) </vt:lpstr>
      <vt:lpstr>Outline / Roadmap</vt:lpstr>
      <vt:lpstr>Problem Statement &amp; Motivation</vt:lpstr>
      <vt:lpstr>Project Objectives</vt:lpstr>
      <vt:lpstr>Methodology</vt:lpstr>
      <vt:lpstr>Cont.</vt:lpstr>
      <vt:lpstr>Cont.</vt:lpstr>
      <vt:lpstr>Cont.</vt:lpstr>
      <vt:lpstr>Model Formulation</vt:lpstr>
      <vt:lpstr>Cont.</vt:lpstr>
      <vt:lpstr>Cont.</vt:lpstr>
      <vt:lpstr>Cont.</vt:lpstr>
      <vt:lpstr>Solution &amp; Key Results</vt:lpstr>
      <vt:lpstr>Cont. </vt:lpstr>
      <vt:lpstr>Sensitivity Analysis / What-If Scenarios</vt:lpstr>
      <vt:lpstr>Conclusion</vt:lpstr>
      <vt:lpstr>Future Work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Antarikh Kashyap</cp:lastModifiedBy>
  <cp:revision>4</cp:revision>
  <dcterms:created xsi:type="dcterms:W3CDTF">2013-01-27T09:14:16Z</dcterms:created>
  <dcterms:modified xsi:type="dcterms:W3CDTF">2025-11-12T18:09:28Z</dcterms:modified>
  <cp:category/>
</cp:coreProperties>
</file>